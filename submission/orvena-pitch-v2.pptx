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d9e5438d4e4fd2" /><Relationship Type="http://schemas.openxmlformats.org/officeDocument/2006/relationships/extended-properties" Target="/docProps/app.xml" Id="Rd3320c2cac724d73" /><Relationship Type="http://schemas.openxmlformats.org/officeDocument/2006/relationships/officeDocument" Target="/ppt/presentation.xml" Id="R5915a2f00c494de2" /></Relationships>
</file>

<file path=ppt/presentation.xml><?xml version="1.0" encoding="utf-8"?>
<p:presentation xmlns:p="http://schemas.openxmlformats.org/presentationml/2006/main">
  <p:sldMasterIdLst>
    <p:sldMasterId xmlns:r="http://schemas.openxmlformats.org/officeDocument/2006/relationships" id="2147483648" r:id="R1113a48882574e56"/>
  </p:sldMasterIdLst>
  <p:notesMasterIdLst>
    <p:notesMasterId xmlns:r="http://schemas.openxmlformats.org/officeDocument/2006/relationships" r:id="R26936967d5884a49"/>
  </p:notesMasterIdLst>
  <p:sldIdLst>
    <p:sldId xmlns:r="http://schemas.openxmlformats.org/officeDocument/2006/relationships" id="256" r:id="R77bcc7eaedaf45fd"/>
    <p:sldId xmlns:r="http://schemas.openxmlformats.org/officeDocument/2006/relationships" id="257" r:id="R5880deec8976459a"/>
    <p:sldId xmlns:r="http://schemas.openxmlformats.org/officeDocument/2006/relationships" id="258" r:id="R12aa9beee8224c6d"/>
    <p:sldId xmlns:r="http://schemas.openxmlformats.org/officeDocument/2006/relationships" id="259" r:id="R2bf192629af8406d"/>
    <p:sldId xmlns:r="http://schemas.openxmlformats.org/officeDocument/2006/relationships" id="260" r:id="R4b38419920be489a"/>
    <p:sldId xmlns:r="http://schemas.openxmlformats.org/officeDocument/2006/relationships" id="261" r:id="R9428854f78fc49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62ddb0c539429b" /><Relationship Type="http://schemas.openxmlformats.org/officeDocument/2006/relationships/slideMaster" Target="/ppt/slideMasters/slideMaster1.xml" Id="R1113a48882574e56" /><Relationship Type="http://schemas.openxmlformats.org/officeDocument/2006/relationships/notesMaster" Target="/ppt/notesMasters/notesMaster1.xml" Id="R26936967d5884a49" /><Relationship Type="http://schemas.openxmlformats.org/officeDocument/2006/relationships/presProps" Target="/ppt/presProps.xml" Id="R12d7c5891b304869" /><Relationship Type="http://schemas.openxmlformats.org/officeDocument/2006/relationships/tableStyles" Target="/ppt/tableStyles.xml" Id="R73ba479c220a4dde" /><Relationship Type="http://schemas.openxmlformats.org/officeDocument/2006/relationships/slide" Target="/ppt/slides/slide1.xml" Id="R77bcc7eaedaf45fd" /><Relationship Type="http://schemas.openxmlformats.org/officeDocument/2006/relationships/slide" Target="/ppt/slides/slide2.xml" Id="R5880deec8976459a" /><Relationship Type="http://schemas.openxmlformats.org/officeDocument/2006/relationships/slide" Target="/ppt/slides/slide3.xml" Id="R12aa9beee8224c6d" /><Relationship Type="http://schemas.openxmlformats.org/officeDocument/2006/relationships/slide" Target="/ppt/slides/slide4.xml" Id="R2bf192629af8406d" /><Relationship Type="http://schemas.openxmlformats.org/officeDocument/2006/relationships/slide" Target="/ppt/slides/slide5.xml" Id="R4b38419920be489a" /><Relationship Type="http://schemas.openxmlformats.org/officeDocument/2006/relationships/slide" Target="/ppt/slides/slide6.xml" Id="R9428854f78fc49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a3fc9cd10349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16157105f9454d" /><Relationship Type="http://schemas.openxmlformats.org/officeDocument/2006/relationships/notesMaster" Target="/ppt/notesMasters/notesMaster1.xml" Id="Re97db5e8d1864a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1d4c395f6a4bdc" /><Relationship Type="http://schemas.openxmlformats.org/officeDocument/2006/relationships/notesMaster" Target="/ppt/notesMasters/notesMaster1.xml" Id="R36a8fc71c3eb41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cfa389c2994300" /><Relationship Type="http://schemas.openxmlformats.org/officeDocument/2006/relationships/notesMaster" Target="/ppt/notesMasters/notesMaster1.xml" Id="R509d7947776e47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e3a4a66e844e74" /><Relationship Type="http://schemas.openxmlformats.org/officeDocument/2006/relationships/notesMaster" Target="/ppt/notesMasters/notesMaster1.xml" Id="R83396df74f3748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1691e60fdd4602" /><Relationship Type="http://schemas.openxmlformats.org/officeDocument/2006/relationships/notesMaster" Target="/ppt/notesMasters/notesMaster1.xml" Id="Rc04015e5a66d4d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323ddc4a7e4d79" /><Relationship Type="http://schemas.openxmlformats.org/officeDocument/2006/relationships/notesMaster" Target="/ppt/notesMasters/notesMaster1.xml" Id="R2a936e12294847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Orvena is a portable approval protocol for AI applications. Efeberk Zorlukol built it as a solo developer for Monad Metropolis. It lets a human approve an exact version, and lets another application independently verify that consent.</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AI tool can prepare a draft, but a downstream publishing system still needs a decision from an authorized person. A login session does not identify the version they approved. When approval stays inside one application, another tool needs a portable way to check both the content and whether consent remains active.</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reviews the exact text and confirms with a fresh passkey assertion. Orvena records a salted commitment on Monad and returns a JSON receipt. The draft and salt stay offchain. Another application checks the same bytes against the receipt and an approver it trusts independently.</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Monad verifies P two fifty-six for each approval and revocation. Signatures bind the action, exact commitment, nonce, deadline, chain and contract, so an earlier login cannot authorize changed content. Mera derives the approval account from the passkey. A bounded sponsor pays testnet gas, while users need no wallet extension or seed phrase.</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is the contract and SDK. Our approval interface and separately hosted publisher show how applications can integrate it. The first target is AI-assisted publishing workflows. Next steps are developer pilots and a durable sponsor service. Independent adoption and paid usage remain goals; we do not claim them today.</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product runs on Monad testnet, with twenty-three automated tests and real device approval and revocation. The demo also shows changed content failing verification in another application. Approval proves consent to exact bytes; it does not prove factual accuracy or legal identity. The reference draft is prepared, without a live model.</a:t>
            </a:r>
          </a:p>
          <a:p xmlns:a="http://schemas.openxmlformats.org/drawingml/2006/main">
            <a:r>
              <a:t>Sources: project source, README.md, deployments/approval-integration-vercel-10143.json and live device demonstration. Market target and pilots are plans, not adoption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bf115d5e8844a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8eed3b8a3e48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a56b93ef1be40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769c81e8c34a5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852d7be75f94b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c1cc3d079664a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3212BE-40E3-48C7-81DD-A9FDC8F5BD1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CCBF82-8652-467A-B9AF-CF3CC12B3A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E043E2-FE63-44AA-947D-AC8F98622F8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CA9621-1E8D-4D64-AAFD-79151226DB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DDFE72-00D4-45C0-BC0C-6896FA6142D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99D82EA-86A1-4B99-8B27-35613BD986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BE14BF-FA3B-4149-8C0B-F4A0EF7961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56F08D-4EC9-45C1-96A6-ACE19AE0EF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380B90-99BB-42B8-8CF3-EC9B201576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1D2270-A974-4B9A-A0BD-56D6BEFC13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e1b477a01e4439" /><Relationship Type="http://schemas.openxmlformats.org/officeDocument/2006/relationships/slideLayout" Target="/ppt/slideLayouts/slideLayout1.xml" Id="R8ffbe5fbcdb44b42" /><Relationship Type="http://schemas.openxmlformats.org/officeDocument/2006/relationships/slideLayout" Target="/ppt/slideLayouts/slideLayout2.xml" Id="R4dfa90e035b9497c" /><Relationship Type="http://schemas.openxmlformats.org/officeDocument/2006/relationships/slideLayout" Target="/ppt/slideLayouts/slideLayout3.xml" Id="R09217df32708470f" /><Relationship Type="http://schemas.openxmlformats.org/officeDocument/2006/relationships/slideLayout" Target="/ppt/slideLayouts/slideLayout4.xml" Id="R925d8772a00a4b84" /><Relationship Type="http://schemas.openxmlformats.org/officeDocument/2006/relationships/slideLayout" Target="/ppt/slideLayouts/slideLayout5.xml" Id="R570e417ed92b4913" /><Relationship Type="http://schemas.openxmlformats.org/officeDocument/2006/relationships/slideLayout" Target="/ppt/slideLayouts/slideLayout6.xml" Id="R880f8bd359f343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fbe5fbcdb44b42"/>
    <p:sldLayoutId xmlns:r="http://schemas.openxmlformats.org/officeDocument/2006/relationships" id="2147483650" r:id="R4dfa90e035b9497c"/>
    <p:sldLayoutId xmlns:r="http://schemas.openxmlformats.org/officeDocument/2006/relationships" id="2147483651" r:id="R09217df32708470f"/>
    <p:sldLayoutId xmlns:r="http://schemas.openxmlformats.org/officeDocument/2006/relationships" id="2147483652" r:id="R925d8772a00a4b84"/>
    <p:sldLayoutId xmlns:r="http://schemas.openxmlformats.org/officeDocument/2006/relationships" id="2147483653" r:id="R570e417ed92b4913"/>
    <p:sldLayoutId xmlns:r="http://schemas.openxmlformats.org/officeDocument/2006/relationships" id="2147483654" r:id="R880f8bd359f343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81f925eb8f4220" /><Relationship Type="http://schemas.openxmlformats.org/officeDocument/2006/relationships/image" Target="/ppt/media/image.png" Id="Rff9615470f994c29" /><Relationship Type="http://schemas.openxmlformats.org/officeDocument/2006/relationships/image" Target="/ppt/media/image.svg" Id="Rb8ea9b2714a74f66" /><Relationship Type="http://schemas.openxmlformats.org/officeDocument/2006/relationships/notesSlide" Target="/ppt/notesSlides/notesSlide1.xml" Id="R18d3d6f94f8d40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39a269b05c46ad" /><Relationship Type="http://schemas.openxmlformats.org/officeDocument/2006/relationships/notesSlide" Target="/ppt/notesSlides/notesSlide2.xml" Id="R976709fce9d549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de46a208c2483f" /><Relationship Type="http://schemas.openxmlformats.org/officeDocument/2006/relationships/notesSlide" Target="/ppt/notesSlides/notesSlide3.xml" Id="Rf3b8fb5f4f6749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51495653fc4502" /><Relationship Type="http://schemas.openxmlformats.org/officeDocument/2006/relationships/notesSlide" Target="/ppt/notesSlides/notesSlide4.xml" Id="Rb8786edb658e40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fa48a628604bd2" /><Relationship Type="http://schemas.openxmlformats.org/officeDocument/2006/relationships/notesSlide" Target="/ppt/notesSlides/notesSlide5.xml" Id="R1a480ba1e35645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5d2f14c0d745eb" /><Relationship Type="http://schemas.openxmlformats.org/officeDocument/2006/relationships/notesSlide" Target="/ppt/notesSlides/notesSlide6.xml" Id="R4de6d25471e34510" /></Relationships>
</file>

<file path=ppt/slides/slide1.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6FA3C3-87B2-4C51-AB60-09D75198BCAB}"/>
              </a:ext>
            </a:extLst>
          </p:cNvPr>
          <p:cNvSpPr>
            <a:spLocks xmlns:a="http://schemas.openxmlformats.org/drawingml/2006/main" noGrp="1"/>
          </p:cNvSpPr>
          <p:nvPr/>
        </p:nvSpPr>
        <p:spPr>
          <a:xfrm xmlns:a="http://schemas.openxmlformats.org/drawingml/2006/main">
            <a:off x="762000" y="1238250"/>
            <a:ext cx="7810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950" b="1">
                <a:solidFill>
                  <a:srgbClr val="F3EDE5"/>
                </a:solidFill>
                <a:latin typeface="Arial"/>
                <a:ea typeface="Arial"/>
                <a:cs typeface="Arial"/>
              </a:defRPr>
            </a:defPPr>
          </a:lstStyle>
          <a:p xmlns:a="http://schemas.openxmlformats.org/drawingml/2006/main">
            <a:pPr>
              <a:defRPr sz="7950" b="1">
                <a:solidFill>
                  <a:srgbClr val="F3EDE5"/>
                </a:solidFill>
                <a:latin typeface="Arial"/>
                <a:ea typeface="Arial"/>
                <a:cs typeface="Arial"/>
              </a:defRPr>
            </a:pPr>
            <a:r>
              <a:rPr sz="7950" b="1">
                <a:solidFill>
                  <a:srgbClr val="F3EDE5"/>
                </a:solidFill>
                <a:latin typeface="Arial"/>
                <a:ea typeface="Arial"/>
                <a:cs typeface="Arial"/>
              </a:rPr>
              <a:t>Orvena</a:t>
            </a:r>
          </a:p>
        </p:txBody>
      </p:sp>
      <p:sp>
        <p:nvSpPr>
          <p:cNvPr id="2" name="">
            <a:extLst xmlns:a="http://schemas.openxmlformats.org/drawingml/2006/main">
              <a:ext uri="{FF2B5EF4-FFF2-40B4-BE49-F238E27FC236}">
                <a16:creationId xmlns:a16="http://schemas.microsoft.com/office/drawing/2014/main" id="{3C8DFAC7-ABD0-490F-A670-97468884584A}"/>
              </a:ext>
            </a:extLst>
          </p:cNvPr>
          <p:cNvSpPr>
            <a:spLocks xmlns:a="http://schemas.openxmlformats.org/drawingml/2006/main" noGrp="1"/>
          </p:cNvSpPr>
          <p:nvPr/>
        </p:nvSpPr>
        <p:spPr>
          <a:xfrm xmlns:a="http://schemas.openxmlformats.org/drawingml/2006/main">
            <a:off x="800100" y="2857500"/>
            <a:ext cx="990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1C2A3"/>
                </a:solidFill>
                <a:latin typeface="Arial"/>
                <a:ea typeface="Arial"/>
                <a:cs typeface="Arial"/>
              </a:defRPr>
            </a:defPPr>
          </a:lstStyle>
          <a:p xmlns:a="http://schemas.openxmlformats.org/drawingml/2006/main">
            <a:pPr>
              <a:defRPr sz="2850" b="0">
                <a:solidFill>
                  <a:srgbClr val="E1C2A3"/>
                </a:solidFill>
                <a:latin typeface="Arial"/>
                <a:ea typeface="Arial"/>
                <a:cs typeface="Arial"/>
              </a:defRPr>
            </a:pPr>
            <a:r>
              <a:rPr sz="2850" b="0">
                <a:solidFill>
                  <a:srgbClr val="E1C2A3"/>
                </a:solidFill>
                <a:latin typeface="Arial"/>
                <a:ea typeface="Arial"/>
                <a:cs typeface="Arial"/>
              </a:rPr>
              <a:t>Passkey approvals for AI content</a:t>
            </a:r>
          </a:p>
        </p:txBody>
      </p:sp>
      <p:sp>
        <p:nvSpPr>
          <p:cNvPr id="3" name="">
            <a:extLst xmlns:a="http://schemas.openxmlformats.org/drawingml/2006/main">
              <a:ext uri="{FF2B5EF4-FFF2-40B4-BE49-F238E27FC236}">
                <a16:creationId xmlns:a16="http://schemas.microsoft.com/office/drawing/2014/main" id="{1CC68DDD-71D6-4A76-A164-9BCB0CC38F49}"/>
              </a:ext>
            </a:extLst>
          </p:cNvPr>
          <p:cNvSpPr>
            <a:spLocks xmlns:a="http://schemas.openxmlformats.org/drawingml/2006/main" noGrp="1"/>
          </p:cNvSpPr>
          <p:nvPr/>
        </p:nvSpPr>
        <p:spPr>
          <a:xfrm xmlns:a="http://schemas.openxmlformats.org/drawingml/2006/main">
            <a:off x="800100" y="4286250"/>
            <a:ext cx="885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4AAA0"/>
                </a:solidFill>
                <a:latin typeface="Arial"/>
                <a:ea typeface="Arial"/>
                <a:cs typeface="Arial"/>
              </a:defRPr>
            </a:defPPr>
          </a:lstStyle>
          <a:p xmlns:a="http://schemas.openxmlformats.org/drawingml/2006/main">
            <a:pPr>
              <a:defRPr sz="2025" b="0">
                <a:solidFill>
                  <a:srgbClr val="B4AAA0"/>
                </a:solidFill>
                <a:latin typeface="Arial"/>
                <a:ea typeface="Arial"/>
                <a:cs typeface="Arial"/>
              </a:defRPr>
            </a:pPr>
            <a:r>
              <a:rPr sz="2025" b="0">
                <a:solidFill>
                  <a:srgbClr val="B4AAA0"/>
                </a:solidFill>
                <a:latin typeface="Arial"/>
                <a:ea typeface="Arial"/>
                <a:cs typeface="Arial"/>
              </a:rPr>
              <a:t>Built by Efeberk Zorlukol</a:t>
            </a:r>
          </a:p>
          <a:p xmlns:a="http://schemas.openxmlformats.org/drawingml/2006/main">
            <a:pPr>
              <a:defRPr sz="2025" b="0">
                <a:solidFill>
                  <a:srgbClr val="B4AAA0"/>
                </a:solidFill>
                <a:latin typeface="Arial"/>
                <a:ea typeface="Arial"/>
                <a:cs typeface="Arial"/>
              </a:defRPr>
            </a:pPr>
            <a:r>
              <a:rPr sz="2025" b="0">
                <a:solidFill>
                  <a:srgbClr val="B4AAA0"/>
                </a:solidFill>
                <a:latin typeface="Arial"/>
                <a:ea typeface="Arial"/>
                <a:cs typeface="Arial"/>
              </a:rPr>
              <a:t>Solo developer</a:t>
            </a:r>
          </a:p>
        </p:txBody>
      </p:sp>
      <p:pic>
        <p:nvPicPr>
          <p:cNvPr id="4" name="">
            <a:extLst xmlns:a="http://schemas.openxmlformats.org/drawingml/2006/main">
              <a:ext uri="{FF2B5EF4-FFF2-40B4-BE49-F238E27FC236}">
                <a16:creationId xmlns:a16="http://schemas.microsoft.com/office/drawing/2014/main" id="{B7E92236-DCC2-4FF8-A79A-4FF706739F28}"/>
              </a:ext>
            </a:extLst>
          </p:cNvPr>
          <p:cNvPicPr>
            <a:picLocks xmlns:a="http://schemas.openxmlformats.org/drawingml/2006/main" noChangeAspect="1"/>
          </p:cNvPicPr>
          <p:nvPr/>
        </p:nvPicPr>
        <p:blipFill>
          <a:blip xmlns:r="http://schemas.openxmlformats.org/officeDocument/2006/relationships" xmlns:a="http://schemas.openxmlformats.org/drawingml/2006/main" r:embed="Rff9615470f994c29">
            <a:extLst>
              <a:ext uri="{96DAC541-7B7A-43D3-8B79-37D633B846F1}">
                <asvg:svgBlip xmlns:asvg="http://schemas.microsoft.com/office/drawing/2016/SVG/main" r:embed="Rb8ea9b2714a74f66"/>
              </a:ext>
            </a:extLst>
          </a:blip>
          <a:stretch xmlns:a="http://schemas.openxmlformats.org/drawingml/2006/main"/>
        </p:blipFill>
        <p:spPr>
          <a:xfrm xmlns:a="http://schemas.openxmlformats.org/drawingml/2006/main">
            <a:off x="9810750" y="1619250"/>
            <a:ext cx="1143000" cy="1257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FA4F20D-8271-4DF8-9DD4-1A904698B15D}"/>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6" name="">
            <a:extLst xmlns:a="http://schemas.openxmlformats.org/drawingml/2006/main">
              <a:ext uri="{FF2B5EF4-FFF2-40B4-BE49-F238E27FC236}">
                <a16:creationId xmlns:a16="http://schemas.microsoft.com/office/drawing/2014/main" id="{98ECA0C3-183E-4364-9395-6D47FEA21ED9}"/>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1 / 6</a:t>
            </a:r>
          </a:p>
        </p:txBody>
      </p:sp>
    </p:spTree>
    <p:extLst>
      <p:ext uri="{BB962C8B-B14F-4D97-AF65-F5344CB8AC3E}">
        <p14:creationId xmlns:p14="http://schemas.microsoft.com/office/powerpoint/2010/main" val="1493804735"/>
      </p:ext>
    </p:extLst>
  </p:cSld>
</p:sld>
</file>

<file path=ppt/slides/slide2.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DABD76-E092-4C9C-B45A-F466690D4EF4}"/>
              </a:ext>
            </a:extLst>
          </p:cNvPr>
          <p:cNvSpPr>
            <a:spLocks xmlns:a="http://schemas.openxmlformats.org/drawingml/2006/main" noGrp="1"/>
          </p:cNvSpPr>
          <p:nvPr/>
        </p:nvSpPr>
        <p:spPr>
          <a:xfrm xmlns:a="http://schemas.openxmlformats.org/drawingml/2006/main">
            <a:off x="762000" y="857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EDE5"/>
                </a:solidFill>
                <a:latin typeface="Arial"/>
                <a:ea typeface="Arial"/>
                <a:cs typeface="Arial"/>
              </a:defRPr>
            </a:defPPr>
          </a:lstStyle>
          <a:p xmlns:a="http://schemas.openxmlformats.org/drawingml/2006/main">
            <a:pPr>
              <a:defRPr sz="3600" b="1">
                <a:solidFill>
                  <a:srgbClr val="F3EDE5"/>
                </a:solidFill>
                <a:latin typeface="Arial"/>
                <a:ea typeface="Arial"/>
                <a:cs typeface="Arial"/>
              </a:defRPr>
            </a:pPr>
            <a:r>
              <a:rPr sz="3600" b="1">
                <a:solidFill>
                  <a:srgbClr val="F3EDE5"/>
                </a:solidFill>
                <a:latin typeface="Arial"/>
                <a:ea typeface="Arial"/>
                <a:cs typeface="Arial"/>
              </a:rPr>
              <a:t>Consent must follow the exact version</a:t>
            </a:r>
          </a:p>
        </p:txBody>
      </p:sp>
      <p:sp>
        <p:nvSpPr>
          <p:cNvPr id="2" name="">
            <a:extLst xmlns:a="http://schemas.openxmlformats.org/drawingml/2006/main">
              <a:ext uri="{FF2B5EF4-FFF2-40B4-BE49-F238E27FC236}">
                <a16:creationId xmlns:a16="http://schemas.microsoft.com/office/drawing/2014/main" id="{572CAD63-95F4-46C6-815A-FE1F4C23A018}"/>
              </a:ext>
            </a:extLst>
          </p:cNvPr>
          <p:cNvSpPr>
            <a:spLocks xmlns:a="http://schemas.openxmlformats.org/drawingml/2006/main" noGrp="1"/>
          </p:cNvSpPr>
          <p:nvPr/>
        </p:nvSpPr>
        <p:spPr>
          <a:xfrm xmlns:a="http://schemas.openxmlformats.org/drawingml/2006/main">
            <a:off x="800100" y="23336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C8B8"/>
                </a:solidFill>
                <a:latin typeface="Arial"/>
                <a:ea typeface="Arial"/>
                <a:cs typeface="Arial"/>
              </a:defRPr>
            </a:defPPr>
          </a:lstStyle>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A draft can change after review.</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An approval kept inside one application</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does not automatically travel with the content.</a:t>
            </a:r>
          </a:p>
        </p:txBody>
      </p:sp>
      <p:sp>
        <p:nvSpPr>
          <p:cNvPr id="3" name="">
            <a:extLst xmlns:a="http://schemas.openxmlformats.org/drawingml/2006/main">
              <a:ext uri="{FF2B5EF4-FFF2-40B4-BE49-F238E27FC236}">
                <a16:creationId xmlns:a16="http://schemas.microsoft.com/office/drawing/2014/main" id="{0784D0BD-FE42-48E1-9C7C-86AC078825EC}"/>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4" name="">
            <a:extLst xmlns:a="http://schemas.openxmlformats.org/drawingml/2006/main">
              <a:ext uri="{FF2B5EF4-FFF2-40B4-BE49-F238E27FC236}">
                <a16:creationId xmlns:a16="http://schemas.microsoft.com/office/drawing/2014/main" id="{36F5C23B-129B-4694-BDF4-6AD717C227BD}"/>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2 / 6</a:t>
            </a:r>
          </a:p>
        </p:txBody>
      </p:sp>
    </p:spTree>
    <p:extLst>
      <p:ext uri="{BB962C8B-B14F-4D97-AF65-F5344CB8AC3E}">
        <p14:creationId xmlns:p14="http://schemas.microsoft.com/office/powerpoint/2010/main" val="2017055218"/>
      </p:ext>
    </p:extLst>
  </p:cSld>
</p:sld>
</file>

<file path=ppt/slides/slide3.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E3F040-6EC3-4090-BE73-409462DB14A6}"/>
              </a:ext>
            </a:extLst>
          </p:cNvPr>
          <p:cNvSpPr>
            <a:spLocks xmlns:a="http://schemas.openxmlformats.org/drawingml/2006/main" noGrp="1"/>
          </p:cNvSpPr>
          <p:nvPr/>
        </p:nvSpPr>
        <p:spPr>
          <a:xfrm xmlns:a="http://schemas.openxmlformats.org/drawingml/2006/main">
            <a:off x="762000" y="857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EDE5"/>
                </a:solidFill>
                <a:latin typeface="Arial"/>
                <a:ea typeface="Arial"/>
                <a:cs typeface="Arial"/>
              </a:defRPr>
            </a:defPPr>
          </a:lstStyle>
          <a:p xmlns:a="http://schemas.openxmlformats.org/drawingml/2006/main">
            <a:pPr>
              <a:defRPr sz="3600" b="1">
                <a:solidFill>
                  <a:srgbClr val="F3EDE5"/>
                </a:solidFill>
                <a:latin typeface="Arial"/>
                <a:ea typeface="Arial"/>
                <a:cs typeface="Arial"/>
              </a:defRPr>
            </a:pPr>
            <a:r>
              <a:rPr sz="3600" b="1">
                <a:solidFill>
                  <a:srgbClr val="F3EDE5"/>
                </a:solidFill>
                <a:latin typeface="Arial"/>
                <a:ea typeface="Arial"/>
                <a:cs typeface="Arial"/>
              </a:rPr>
              <a:t>A fresh passkey decision</a:t>
            </a:r>
          </a:p>
        </p:txBody>
      </p:sp>
      <p:sp>
        <p:nvSpPr>
          <p:cNvPr id="2" name="">
            <a:extLst xmlns:a="http://schemas.openxmlformats.org/drawingml/2006/main">
              <a:ext uri="{FF2B5EF4-FFF2-40B4-BE49-F238E27FC236}">
                <a16:creationId xmlns:a16="http://schemas.microsoft.com/office/drawing/2014/main" id="{92102EE3-7AC9-46D9-99BD-9E9BBC04D8C9}"/>
              </a:ext>
            </a:extLst>
          </p:cNvPr>
          <p:cNvSpPr>
            <a:spLocks xmlns:a="http://schemas.openxmlformats.org/drawingml/2006/main" noGrp="1"/>
          </p:cNvSpPr>
          <p:nvPr/>
        </p:nvSpPr>
        <p:spPr>
          <a:xfrm xmlns:a="http://schemas.openxmlformats.org/drawingml/2006/main">
            <a:off x="800100" y="23336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C8B8"/>
                </a:solidFill>
                <a:latin typeface="Arial"/>
                <a:ea typeface="Arial"/>
                <a:cs typeface="Arial"/>
              </a:defRPr>
            </a:defPPr>
          </a:lstStyle>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Review the exact text and confirm with a passkey.</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Carry a JSON receipt into another application.</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Content and the random salt stay offchain.</a:t>
            </a:r>
          </a:p>
        </p:txBody>
      </p:sp>
      <p:sp>
        <p:nvSpPr>
          <p:cNvPr id="3" name="">
            <a:extLst xmlns:a="http://schemas.openxmlformats.org/drawingml/2006/main">
              <a:ext uri="{FF2B5EF4-FFF2-40B4-BE49-F238E27FC236}">
                <a16:creationId xmlns:a16="http://schemas.microsoft.com/office/drawing/2014/main" id="{6F787E36-32C7-4747-8BEA-F615EDBFA71E}"/>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4" name="">
            <a:extLst xmlns:a="http://schemas.openxmlformats.org/drawingml/2006/main">
              <a:ext uri="{FF2B5EF4-FFF2-40B4-BE49-F238E27FC236}">
                <a16:creationId xmlns:a16="http://schemas.microsoft.com/office/drawing/2014/main" id="{CD56C1DE-B116-4168-AEA1-5D17A03F1CE8}"/>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3 / 6</a:t>
            </a:r>
          </a:p>
        </p:txBody>
      </p:sp>
    </p:spTree>
    <p:extLst>
      <p:ext uri="{BB962C8B-B14F-4D97-AF65-F5344CB8AC3E}">
        <p14:creationId xmlns:p14="http://schemas.microsoft.com/office/powerpoint/2010/main" val="963186736"/>
      </p:ext>
    </p:extLst>
  </p:cSld>
</p:sld>
</file>

<file path=ppt/slides/slide4.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87F933-8EBB-42D2-AD9C-2807DF3EF81E}"/>
              </a:ext>
            </a:extLst>
          </p:cNvPr>
          <p:cNvSpPr>
            <a:spLocks xmlns:a="http://schemas.openxmlformats.org/drawingml/2006/main" noGrp="1"/>
          </p:cNvSpPr>
          <p:nvPr/>
        </p:nvSpPr>
        <p:spPr>
          <a:xfrm xmlns:a="http://schemas.openxmlformats.org/drawingml/2006/main">
            <a:off x="762000" y="857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EDE5"/>
                </a:solidFill>
                <a:latin typeface="Arial"/>
                <a:ea typeface="Arial"/>
                <a:cs typeface="Arial"/>
              </a:defRPr>
            </a:defPPr>
          </a:lstStyle>
          <a:p xmlns:a="http://schemas.openxmlformats.org/drawingml/2006/main">
            <a:pPr>
              <a:defRPr sz="3600" b="1">
                <a:solidFill>
                  <a:srgbClr val="F3EDE5"/>
                </a:solidFill>
                <a:latin typeface="Arial"/>
                <a:ea typeface="Arial"/>
                <a:cs typeface="Arial"/>
              </a:defRPr>
            </a:pPr>
            <a:r>
              <a:rPr sz="3600" b="1">
                <a:solidFill>
                  <a:srgbClr val="F3EDE5"/>
                </a:solidFill>
                <a:latin typeface="Arial"/>
                <a:ea typeface="Arial"/>
                <a:cs typeface="Arial"/>
              </a:rPr>
              <a:t>Verification on Monad</a:t>
            </a:r>
          </a:p>
        </p:txBody>
      </p:sp>
      <p:sp>
        <p:nvSpPr>
          <p:cNvPr id="2" name="">
            <a:extLst xmlns:a="http://schemas.openxmlformats.org/drawingml/2006/main">
              <a:ext uri="{FF2B5EF4-FFF2-40B4-BE49-F238E27FC236}">
                <a16:creationId xmlns:a16="http://schemas.microsoft.com/office/drawing/2014/main" id="{715811C1-0A96-4BE9-B629-18E7CB85C99C}"/>
              </a:ext>
            </a:extLst>
          </p:cNvPr>
          <p:cNvSpPr>
            <a:spLocks xmlns:a="http://schemas.openxmlformats.org/drawingml/2006/main" noGrp="1"/>
          </p:cNvSpPr>
          <p:nvPr/>
        </p:nvSpPr>
        <p:spPr>
          <a:xfrm xmlns:a="http://schemas.openxmlformats.org/drawingml/2006/main">
            <a:off x="800100" y="23336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C8B8"/>
                </a:solidFill>
                <a:latin typeface="Arial"/>
                <a:ea typeface="Arial"/>
                <a:cs typeface="Arial"/>
              </a:defRPr>
            </a:defPPr>
          </a:lstStyle>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Native P256 verification for every approval and revoke</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Signatures bind the action, nonce, deadline and deployment</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Mera derives the approval account from the passkey</a:t>
            </a:r>
          </a:p>
        </p:txBody>
      </p:sp>
      <p:sp>
        <p:nvSpPr>
          <p:cNvPr id="3" name="">
            <a:extLst xmlns:a="http://schemas.openxmlformats.org/drawingml/2006/main">
              <a:ext uri="{FF2B5EF4-FFF2-40B4-BE49-F238E27FC236}">
                <a16:creationId xmlns:a16="http://schemas.microsoft.com/office/drawing/2014/main" id="{5A1FFDDE-8F38-440B-AD5A-EA2C4B44D35D}"/>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4" name="">
            <a:extLst xmlns:a="http://schemas.openxmlformats.org/drawingml/2006/main">
              <a:ext uri="{FF2B5EF4-FFF2-40B4-BE49-F238E27FC236}">
                <a16:creationId xmlns:a16="http://schemas.microsoft.com/office/drawing/2014/main" id="{B425229D-B3CA-4E46-85B0-AB3C0B10A451}"/>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4 / 6</a:t>
            </a:r>
          </a:p>
        </p:txBody>
      </p:sp>
    </p:spTree>
    <p:extLst>
      <p:ext uri="{BB962C8B-B14F-4D97-AF65-F5344CB8AC3E}">
        <p14:creationId xmlns:p14="http://schemas.microsoft.com/office/powerpoint/2010/main" val="1065221627"/>
      </p:ext>
    </p:extLst>
  </p:cSld>
</p:sld>
</file>

<file path=ppt/slides/slide5.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758499-64AB-4FA5-8B1C-87C1EC44469E}"/>
              </a:ext>
            </a:extLst>
          </p:cNvPr>
          <p:cNvSpPr>
            <a:spLocks xmlns:a="http://schemas.openxmlformats.org/drawingml/2006/main" noGrp="1"/>
          </p:cNvSpPr>
          <p:nvPr/>
        </p:nvSpPr>
        <p:spPr>
          <a:xfrm xmlns:a="http://schemas.openxmlformats.org/drawingml/2006/main">
            <a:off x="762000" y="857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EDE5"/>
                </a:solidFill>
                <a:latin typeface="Arial"/>
                <a:ea typeface="Arial"/>
                <a:cs typeface="Arial"/>
              </a:defRPr>
            </a:defPPr>
          </a:lstStyle>
          <a:p xmlns:a="http://schemas.openxmlformats.org/drawingml/2006/main">
            <a:pPr>
              <a:defRPr sz="3600" b="1">
                <a:solidFill>
                  <a:srgbClr val="F3EDE5"/>
                </a:solidFill>
                <a:latin typeface="Arial"/>
                <a:ea typeface="Arial"/>
                <a:cs typeface="Arial"/>
              </a:defRPr>
            </a:pPr>
            <a:r>
              <a:rPr sz="3600" b="1">
                <a:solidFill>
                  <a:srgbClr val="F3EDE5"/>
                </a:solidFill>
                <a:latin typeface="Arial"/>
                <a:ea typeface="Arial"/>
                <a:cs typeface="Arial"/>
              </a:rPr>
              <a:t>Infrastructure for publishing tools</a:t>
            </a:r>
          </a:p>
        </p:txBody>
      </p:sp>
      <p:sp>
        <p:nvSpPr>
          <p:cNvPr id="2" name="">
            <a:extLst xmlns:a="http://schemas.openxmlformats.org/drawingml/2006/main">
              <a:ext uri="{FF2B5EF4-FFF2-40B4-BE49-F238E27FC236}">
                <a16:creationId xmlns:a16="http://schemas.microsoft.com/office/drawing/2014/main" id="{D54B30E4-7FC8-4D22-9508-B0919FA4282F}"/>
              </a:ext>
            </a:extLst>
          </p:cNvPr>
          <p:cNvSpPr>
            <a:spLocks xmlns:a="http://schemas.openxmlformats.org/drawingml/2006/main" noGrp="1"/>
          </p:cNvSpPr>
          <p:nvPr/>
        </p:nvSpPr>
        <p:spPr>
          <a:xfrm xmlns:a="http://schemas.openxmlformats.org/drawingml/2006/main">
            <a:off x="800100" y="23336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8C8B8"/>
                </a:solidFill>
                <a:latin typeface="Arial"/>
                <a:ea typeface="Arial"/>
                <a:cs typeface="Arial"/>
              </a:defRPr>
            </a:defPPr>
          </a:lstStyle>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A contract and SDK that applications can share</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First target: teams publishing AI-assisted content</a:t>
            </a:r>
          </a:p>
          <a:p xmlns:a="http://schemas.openxmlformats.org/drawingml/2006/main">
            <a:r>
              <a:t/>
            </a:r>
          </a:p>
          <a:p xmlns:a="http://schemas.openxmlformats.org/drawingml/2006/main">
            <a:pPr>
              <a:defRPr sz="2325" b="0">
                <a:solidFill>
                  <a:srgbClr val="D8C8B8"/>
                </a:solidFill>
                <a:latin typeface="Arial"/>
                <a:ea typeface="Arial"/>
                <a:cs typeface="Arial"/>
              </a:defRPr>
            </a:pPr>
            <a:r>
              <a:rPr sz="2325" b="0">
                <a:solidFill>
                  <a:srgbClr val="D8C8B8"/>
                </a:solidFill>
                <a:latin typeface="Arial"/>
                <a:ea typeface="Arial"/>
                <a:cs typeface="Arial"/>
              </a:rPr>
              <a:t>Plan: developer pilots and managed sponsorship</a:t>
            </a:r>
          </a:p>
        </p:txBody>
      </p:sp>
      <p:sp>
        <p:nvSpPr>
          <p:cNvPr id="3" name="">
            <a:extLst xmlns:a="http://schemas.openxmlformats.org/drawingml/2006/main">
              <a:ext uri="{FF2B5EF4-FFF2-40B4-BE49-F238E27FC236}">
                <a16:creationId xmlns:a16="http://schemas.microsoft.com/office/drawing/2014/main" id="{B7C24496-47C3-4EF8-81A4-7CD64AD532F2}"/>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4" name="">
            <a:extLst xmlns:a="http://schemas.openxmlformats.org/drawingml/2006/main">
              <a:ext uri="{FF2B5EF4-FFF2-40B4-BE49-F238E27FC236}">
                <a16:creationId xmlns:a16="http://schemas.microsoft.com/office/drawing/2014/main" id="{3401D3F6-1E88-4E6F-837C-AB33CABAF9B8}"/>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5 / 6</a:t>
            </a:r>
          </a:p>
        </p:txBody>
      </p:sp>
    </p:spTree>
    <p:extLst>
      <p:ext uri="{BB962C8B-B14F-4D97-AF65-F5344CB8AC3E}">
        <p14:creationId xmlns:p14="http://schemas.microsoft.com/office/powerpoint/2010/main" val="616392773"/>
      </p:ext>
    </p:extLst>
  </p:cSld>
</p:sld>
</file>

<file path=ppt/slides/slide6.xml><?xml version="1.0" encoding="utf-8"?>
<p:sld xmlns:p="http://schemas.openxmlformats.org/presentationml/2006/main">
  <p:cSld>
    <p:bg>
      <p:bgPr>
        <a:solidFill xmlns:a="http://schemas.openxmlformats.org/drawingml/2006/main">
          <a:srgbClr val="12110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5F8C20-725F-438C-A1B8-C9FA77540836}"/>
              </a:ext>
            </a:extLst>
          </p:cNvPr>
          <p:cNvSpPr>
            <a:spLocks xmlns:a="http://schemas.openxmlformats.org/drawingml/2006/main" noGrp="1"/>
          </p:cNvSpPr>
          <p:nvPr/>
        </p:nvSpPr>
        <p:spPr>
          <a:xfrm xmlns:a="http://schemas.openxmlformats.org/drawingml/2006/main">
            <a:off x="762000" y="8572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3EDE5"/>
                </a:solidFill>
                <a:latin typeface="Arial"/>
                <a:ea typeface="Arial"/>
                <a:cs typeface="Arial"/>
              </a:defRPr>
            </a:defPPr>
          </a:lstStyle>
          <a:p xmlns:a="http://schemas.openxmlformats.org/drawingml/2006/main">
            <a:pPr>
              <a:defRPr sz="3600" b="1">
                <a:solidFill>
                  <a:srgbClr val="F3EDE5"/>
                </a:solidFill>
                <a:latin typeface="Arial"/>
                <a:ea typeface="Arial"/>
                <a:cs typeface="Arial"/>
              </a:defRPr>
            </a:pPr>
            <a:r>
              <a:rPr sz="3600" b="1">
                <a:solidFill>
                  <a:srgbClr val="F3EDE5"/>
                </a:solidFill>
                <a:latin typeface="Arial"/>
                <a:ea typeface="Arial"/>
                <a:cs typeface="Arial"/>
              </a:rPr>
              <a:t>A working foundation</a:t>
            </a:r>
          </a:p>
        </p:txBody>
      </p:sp>
      <p:sp>
        <p:nvSpPr>
          <p:cNvPr id="2" name="">
            <a:extLst xmlns:a="http://schemas.openxmlformats.org/drawingml/2006/main">
              <a:ext uri="{FF2B5EF4-FFF2-40B4-BE49-F238E27FC236}">
                <a16:creationId xmlns:a16="http://schemas.microsoft.com/office/drawing/2014/main" id="{53F27AC1-FA81-4753-BD21-5EFA8776AF93}"/>
              </a:ext>
            </a:extLst>
          </p:cNvPr>
          <p:cNvSpPr>
            <a:spLocks xmlns:a="http://schemas.openxmlformats.org/drawingml/2006/main" noGrp="1"/>
          </p:cNvSpPr>
          <p:nvPr/>
        </p:nvSpPr>
        <p:spPr>
          <a:xfrm xmlns:a="http://schemas.openxmlformats.org/drawingml/2006/main">
            <a:off x="800100" y="23336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D8C8B8"/>
                </a:solidFill>
                <a:latin typeface="Arial"/>
                <a:ea typeface="Arial"/>
                <a:cs typeface="Arial"/>
              </a:defRPr>
            </a:defPPr>
          </a:lstStyle>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Live HTTPS applications on Monad testnet</a:t>
            </a:r>
          </a:p>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23 passing automated tests</a:t>
            </a:r>
          </a:p>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Real device approval, content rejection and revocation</a:t>
            </a:r>
          </a:p>
          <a:p xmlns:a="http://schemas.openxmlformats.org/drawingml/2006/main">
            <a:r>
              <a:t/>
            </a:r>
          </a:p>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Consent to exact bytes; accuracy needs separate checks</a:t>
            </a:r>
          </a:p>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Prepared example draft; no live AI model</a:t>
            </a:r>
          </a:p>
          <a:p xmlns:a="http://schemas.openxmlformats.org/drawingml/2006/main">
            <a:r>
              <a:t/>
            </a:r>
          </a:p>
          <a:p xmlns:a="http://schemas.openxmlformats.org/drawingml/2006/main">
            <a:pPr>
              <a:defRPr sz="1950" b="0">
                <a:solidFill>
                  <a:srgbClr val="D8C8B8"/>
                </a:solidFill>
                <a:latin typeface="Arial"/>
                <a:ea typeface="Arial"/>
                <a:cs typeface="Arial"/>
              </a:defRPr>
            </a:pPr>
            <a:r>
              <a:rPr sz="1950" b="0">
                <a:solidFill>
                  <a:srgbClr val="D8C8B8"/>
                </a:solidFill>
                <a:latin typeface="Arial"/>
                <a:ea typeface="Arial"/>
                <a:cs typeface="Arial"/>
              </a:rPr>
              <a:t>github.com/efeberk21/orvena</a:t>
            </a:r>
          </a:p>
        </p:txBody>
      </p:sp>
      <p:sp>
        <p:nvSpPr>
          <p:cNvPr id="3" name="">
            <a:extLst xmlns:a="http://schemas.openxmlformats.org/drawingml/2006/main">
              <a:ext uri="{FF2B5EF4-FFF2-40B4-BE49-F238E27FC236}">
                <a16:creationId xmlns:a16="http://schemas.microsoft.com/office/drawing/2014/main" id="{8C90C51E-395D-4744-8A72-126CAB9642DC}"/>
              </a:ext>
            </a:extLst>
          </p:cNvPr>
          <p:cNvSpPr>
            <a:spLocks xmlns:a="http://schemas.openxmlformats.org/drawingml/2006/main" noGrp="1"/>
          </p:cNvSpPr>
          <p:nvPr/>
        </p:nvSpPr>
        <p:spPr>
          <a:xfrm xmlns:a="http://schemas.openxmlformats.org/drawingml/2006/main">
            <a:off x="800100" y="61722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Monad Metropolis · Trust, Identity &amp; AI Infrastructure</a:t>
            </a:r>
          </a:p>
        </p:txBody>
      </p:sp>
      <p:sp>
        <p:nvSpPr>
          <p:cNvPr id="4" name="">
            <a:extLst xmlns:a="http://schemas.openxmlformats.org/drawingml/2006/main">
              <a:ext uri="{FF2B5EF4-FFF2-40B4-BE49-F238E27FC236}">
                <a16:creationId xmlns:a16="http://schemas.microsoft.com/office/drawing/2014/main" id="{361DD5D8-27F1-4AFC-8E34-260F52E7754E}"/>
              </a:ext>
            </a:extLst>
          </p:cNvPr>
          <p:cNvSpPr>
            <a:spLocks xmlns:a="http://schemas.openxmlformats.org/drawingml/2006/main" noGrp="1"/>
          </p:cNvSpPr>
          <p:nvPr/>
        </p:nvSpPr>
        <p:spPr>
          <a:xfrm xmlns:a="http://schemas.openxmlformats.org/drawingml/2006/main">
            <a:off x="10763250" y="61722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89786A"/>
                </a:solidFill>
                <a:latin typeface="Arial"/>
                <a:ea typeface="Arial"/>
                <a:cs typeface="Arial"/>
              </a:defRPr>
            </a:defPPr>
          </a:lstStyle>
          <a:p xmlns:a="http://schemas.openxmlformats.org/drawingml/2006/main">
            <a:pPr>
              <a:defRPr sz="1200" b="0">
                <a:solidFill>
                  <a:srgbClr val="89786A"/>
                </a:solidFill>
                <a:latin typeface="Arial"/>
                <a:ea typeface="Arial"/>
                <a:cs typeface="Arial"/>
              </a:defRPr>
            </a:pPr>
            <a:r>
              <a:rPr sz="1200" b="0">
                <a:solidFill>
                  <a:srgbClr val="89786A"/>
                </a:solidFill>
                <a:latin typeface="Arial"/>
                <a:ea typeface="Arial"/>
                <a:cs typeface="Arial"/>
              </a:rPr>
              <a:t>6 / 6</a:t>
            </a:r>
          </a:p>
        </p:txBody>
      </p:sp>
    </p:spTree>
    <p:extLst>
      <p:ext uri="{BB962C8B-B14F-4D97-AF65-F5344CB8AC3E}">
        <p14:creationId xmlns:p14="http://schemas.microsoft.com/office/powerpoint/2010/main" val="808516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2026-10-14T00:03:43.4210000Z</dcterms:created>
  <dcterms:modified xsi:type="dcterms:W3CDTF">2026-10-14T00:03:43.4210000Z</dcterms:modified>
</coreProperties>
</file>